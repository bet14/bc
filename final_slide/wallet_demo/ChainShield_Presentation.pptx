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3366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bet14.github.io/bc/rabby_fraud_detection_deck/wallet_demo/frontend/index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858000" y="1828800"/>
            <a:ext cx="3200400" cy="3200400"/>
          </a:xfrm>
          <a:prstGeom prst="ellipse">
            <a:avLst/>
          </a:prstGeom>
          <a:solidFill>
            <a:srgbClr val="00D4FF">
              <a:alpha val="12000"/>
            </a:srgbClr>
          </a:solidFill>
          <a:ln w="12700">
            <a:solidFill>
              <a:srgbClr val="00D4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548640"/>
            <a:ext cx="822960" cy="822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502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ChainShield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02920" y="1234440"/>
            <a:ext cx="5943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Wallet Security</a:t>
            </a:r>
            <a:endParaRPr lang="en-US" sz="4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Re-imagined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502920" y="3017520"/>
            <a:ext cx="548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 fraud. Simulate transactions. Protect every signature — before you sign.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286000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069080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852160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7040880" y="1188720"/>
            <a:ext cx="1920240" cy="1005840"/>
          </a:xfrm>
          <a:prstGeom prst="rect">
            <a:avLst/>
          </a:prstGeom>
          <a:solidFill>
            <a:srgbClr val="1E2A3D"/>
          </a:solidFill>
          <a:ln w="12700">
            <a:solidFill>
              <a:srgbClr val="00D4FF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040880" y="12344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4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000" dirty="0"/>
          </a:p>
        </p:txBody>
      </p:sp>
      <p:sp>
        <p:nvSpPr>
          <p:cNvPr id="19" name="Text 16"/>
          <p:cNvSpPr/>
          <p:nvPr/>
        </p:nvSpPr>
        <p:spPr>
          <a:xfrm>
            <a:off x="7040880" y="175564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Detection Rules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040880" y="2286000"/>
            <a:ext cx="1920240" cy="1005840"/>
          </a:xfrm>
          <a:prstGeom prst="rect">
            <a:avLst/>
          </a:prstGeom>
          <a:solidFill>
            <a:srgbClr val="1E2A3D"/>
          </a:solidFill>
          <a:ln w="12700">
            <a:solidFill>
              <a:srgbClr val="00D4FF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7040880" y="233172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4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7040880" y="285292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 Modules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040880" y="3383280"/>
            <a:ext cx="1920240" cy="1005840"/>
          </a:xfrm>
          <a:prstGeom prst="rect">
            <a:avLst/>
          </a:prstGeom>
          <a:solidFill>
            <a:srgbClr val="1E2A3D"/>
          </a:solidFill>
          <a:ln w="12700">
            <a:solidFill>
              <a:srgbClr val="00D4FF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7040880" y="34290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4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000" dirty="0"/>
          </a:p>
        </p:txBody>
      </p:sp>
      <p:sp>
        <p:nvSpPr>
          <p:cNvPr id="25" name="Text 22"/>
          <p:cNvSpPr/>
          <p:nvPr/>
        </p:nvSpPr>
        <p:spPr>
          <a:xfrm>
            <a:off x="7040880" y="395020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Pre-Sign Protection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502920" y="4800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pic>
        <p:nvPicPr>
          <p:cNvPr id="30" name="QR Code" descr="Scan to visit dem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000" y="3700000"/>
            <a:ext cx="1200000" cy="1200000"/>
          </a:xfrm>
          <a:prstGeom prst="rect">
            <a:avLst/>
          </a:prstGeom>
        </p:spPr>
      </p:pic>
      <p:sp>
        <p:nvSpPr>
          <p:cNvPr id="31" name="QR Label"/>
          <p:cNvSpPr/>
          <p:nvPr/>
        </p:nvSpPr>
        <p:spPr>
          <a:xfrm>
            <a:off x="200000" y="4950000"/>
            <a:ext cx="1400000" cy="1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9BB4"/>
                </a:solidFill>
                <a:latin typeface="Trebuchet MS" pitchFamily="34" charset="0"/>
              </a:rPr>
              <a:t>Scan to view live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74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Crypto wallets are blind to fraud — until it's too late.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2697480" cy="3017520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554480"/>
            <a:ext cx="269748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23774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Pre-Sign Check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834640"/>
            <a:ext cx="2331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MetaMask and most wallets show no risk analysis before a user approves a transaction. Malicious contracts pass through silently.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00400" y="1554480"/>
            <a:ext cx="2697480" cy="3017520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200400" y="1554480"/>
            <a:ext cx="2697480" cy="6400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78308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83280" y="23774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Phishing &amp; Poisoning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383280" y="2834640"/>
            <a:ext cx="2331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Scammers create addresses visually identical to trusted wallets. One mistaken paste and your funds are gone forever.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035040" y="1554480"/>
            <a:ext cx="2697480" cy="3017520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035040" y="1554480"/>
            <a:ext cx="2697480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1783080"/>
            <a:ext cx="502920" cy="5029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17920" y="23774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Blind Signatures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217920" y="2834640"/>
            <a:ext cx="2331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Signing an NFT listing at zero price, a token drain approval, or a permit signature looks identical to a legitimate action to the user.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solidFill>
            <a:srgbClr val="1A0A0A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💸  Over $3.8 billion lost to crypto hacks and scams in 2023 alone  —  most were preventable with pre-sign analysis.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74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94360"/>
            <a:ext cx="6400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ChainShield?</a:t>
            </a:r>
            <a:endParaRPr lang="en-US" sz="30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457200"/>
            <a:ext cx="1463040" cy="1463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234440"/>
            <a:ext cx="6583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ChainShield is a Rabby-inspired Web3 wallet security layer that intercepts every transaction, contract interaction, and signature request — and analyses it for fraud BEFORE the user signs.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2240280"/>
            <a:ext cx="2743200" cy="1097280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365760" y="2240280"/>
            <a:ext cx="45720" cy="109728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514600"/>
            <a:ext cx="384048" cy="384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87552" y="2313432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 Simulation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987552" y="2642616"/>
            <a:ext cx="2057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Simulate any tx before signing. See risk score, asset flow &amp; recommendations.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3246120" y="2240280"/>
            <a:ext cx="2743200" cy="1097280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3246120" y="2240280"/>
            <a:ext cx="45720" cy="10972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514600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867912" y="2313432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Phishing Detection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3867912" y="2642616"/>
            <a:ext cx="2057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Matches destination addresses against a live scam address database.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6126480" y="2240280"/>
            <a:ext cx="2743200" cy="1097280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126480" y="2240280"/>
            <a:ext cx="45720" cy="10972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2514600"/>
            <a:ext cx="384048" cy="38404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748272" y="2313432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Approval Alerts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6748272" y="2642616"/>
            <a:ext cx="2057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Flags unlimited ERC-20 approvals and recommends revocation.</a:t>
            </a:r>
            <a:endParaRPr lang="en-US" sz="900" dirty="0"/>
          </a:p>
        </p:txBody>
      </p:sp>
      <p:sp>
        <p:nvSpPr>
          <p:cNvPr id="22" name="Shape 16"/>
          <p:cNvSpPr/>
          <p:nvPr/>
        </p:nvSpPr>
        <p:spPr>
          <a:xfrm>
            <a:off x="365760" y="3520440"/>
            <a:ext cx="2743200" cy="1097280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7"/>
          <p:cNvSpPr/>
          <p:nvPr/>
        </p:nvSpPr>
        <p:spPr>
          <a:xfrm>
            <a:off x="365760" y="3520440"/>
            <a:ext cx="45720" cy="10972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3794760"/>
            <a:ext cx="384048" cy="38404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87552" y="3593592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Address Poisoning</a:t>
            </a:r>
            <a:endParaRPr lang="en-US" sz="1100" dirty="0"/>
          </a:p>
        </p:txBody>
      </p:sp>
      <p:sp>
        <p:nvSpPr>
          <p:cNvPr id="26" name="Text 19"/>
          <p:cNvSpPr/>
          <p:nvPr/>
        </p:nvSpPr>
        <p:spPr>
          <a:xfrm>
            <a:off x="987552" y="3922776"/>
            <a:ext cx="2057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Detects look-alike addresses injected into transaction history.</a:t>
            </a:r>
            <a:endParaRPr lang="en-US" sz="900" dirty="0"/>
          </a:p>
        </p:txBody>
      </p:sp>
      <p:sp>
        <p:nvSpPr>
          <p:cNvPr id="27" name="Shape 20"/>
          <p:cNvSpPr/>
          <p:nvPr/>
        </p:nvSpPr>
        <p:spPr>
          <a:xfrm>
            <a:off x="3246120" y="3520440"/>
            <a:ext cx="2743200" cy="1097280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1"/>
          <p:cNvSpPr/>
          <p:nvPr/>
        </p:nvSpPr>
        <p:spPr>
          <a:xfrm>
            <a:off x="3246120" y="3520440"/>
            <a:ext cx="45720" cy="10972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83280" y="3794760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3867912" y="3593592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Signature Parsing</a:t>
            </a:r>
            <a:endParaRPr lang="en-US" sz="1100" dirty="0"/>
          </a:p>
        </p:txBody>
      </p:sp>
      <p:sp>
        <p:nvSpPr>
          <p:cNvPr id="31" name="Text 23"/>
          <p:cNvSpPr/>
          <p:nvPr/>
        </p:nvSpPr>
        <p:spPr>
          <a:xfrm>
            <a:off x="3867912" y="3922776"/>
            <a:ext cx="2057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Decodes blind signatures to warn about NFT listings &amp; permit drains.</a:t>
            </a:r>
            <a:endParaRPr lang="en-US" sz="900" dirty="0"/>
          </a:p>
        </p:txBody>
      </p:sp>
      <p:sp>
        <p:nvSpPr>
          <p:cNvPr id="32" name="Shape 24"/>
          <p:cNvSpPr/>
          <p:nvPr/>
        </p:nvSpPr>
        <p:spPr>
          <a:xfrm>
            <a:off x="6126480" y="3520440"/>
            <a:ext cx="2743200" cy="1097280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25"/>
          <p:cNvSpPr/>
          <p:nvPr/>
        </p:nvSpPr>
        <p:spPr>
          <a:xfrm>
            <a:off x="6126480" y="3520440"/>
            <a:ext cx="45720" cy="10972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3640" y="3794760"/>
            <a:ext cx="384048" cy="384048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6748272" y="3593592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 Score</a:t>
            </a:r>
            <a:endParaRPr lang="en-US" sz="1100" dirty="0"/>
          </a:p>
        </p:txBody>
      </p:sp>
      <p:sp>
        <p:nvSpPr>
          <p:cNvPr id="36" name="Text 27"/>
          <p:cNvSpPr/>
          <p:nvPr/>
        </p:nvSpPr>
        <p:spPr>
          <a:xfrm>
            <a:off x="6748272" y="3922776"/>
            <a:ext cx="2057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composite score combining all risk dimensions into one dashboard.</a:t>
            </a:r>
            <a:endParaRPr lang="en-US" sz="900" dirty="0"/>
          </a:p>
        </p:txBody>
      </p:sp>
      <p:sp>
        <p:nvSpPr>
          <p:cNvPr id="37" name="Text 28"/>
          <p:cNvSpPr/>
          <p:nvPr/>
        </p:nvSpPr>
        <p:spPr>
          <a:xfrm>
            <a:off x="365760" y="4864608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ChainShield Works — System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298448"/>
            <a:ext cx="2560320" cy="3383280"/>
          </a:xfrm>
          <a:prstGeom prst="rect">
            <a:avLst/>
          </a:prstGeom>
          <a:solidFill>
            <a:srgbClr val="0D1B2A"/>
          </a:solidFill>
          <a:ln w="19050">
            <a:solidFill>
              <a:srgbClr val="00D4FF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29844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BROWSER LAYER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737360"/>
            <a:ext cx="2286000" cy="1188720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87452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23317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HTML5 / CSS3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 &amp; Dashboard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11480" y="3108960"/>
            <a:ext cx="2286000" cy="1188720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324612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11480" y="37033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 Inputs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Scenarios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2852928" y="3017520"/>
            <a:ext cx="822960" cy="0"/>
          </a:xfrm>
          <a:prstGeom prst="line">
            <a:avLst/>
          </a:prstGeom>
          <a:noFill/>
          <a:ln w="254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2852928" y="2743200"/>
            <a:ext cx="804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JS call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657600" y="2944368"/>
            <a:ext cx="137160" cy="73152"/>
          </a:xfrm>
          <a:prstGeom prst="line">
            <a:avLst/>
          </a:prstGeom>
          <a:noFill/>
          <a:ln w="254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3657600" y="3090672"/>
            <a:ext cx="137160" cy="0"/>
          </a:xfrm>
          <a:prstGeom prst="line">
            <a:avLst/>
          </a:prstGeom>
          <a:noFill/>
          <a:ln w="254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3703320" y="1298448"/>
            <a:ext cx="2560320" cy="3383280"/>
          </a:xfrm>
          <a:prstGeom prst="rect">
            <a:avLst/>
          </a:prstGeom>
          <a:solidFill>
            <a:srgbClr val="0D1B2A"/>
          </a:solidFill>
          <a:ln w="19050">
            <a:solidFill>
              <a:srgbClr val="10B981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3703320" y="129844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FRAUD ENGINE  (client-side JS)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3822192" y="1719072"/>
            <a:ext cx="2331720" cy="1207008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1856232"/>
            <a:ext cx="411480" cy="4114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3822192" y="2313432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7-Rule Detection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Engine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3822192" y="3108960"/>
            <a:ext cx="2331720" cy="1207008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3246120"/>
            <a:ext cx="411480" cy="4114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3822192" y="370332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Score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Calculator (0–100)</a:t>
            </a:r>
            <a:endParaRPr lang="en-US" sz="900" dirty="0"/>
          </a:p>
        </p:txBody>
      </p:sp>
      <p:sp>
        <p:nvSpPr>
          <p:cNvPr id="25" name="Shape 19"/>
          <p:cNvSpPr/>
          <p:nvPr/>
        </p:nvSpPr>
        <p:spPr>
          <a:xfrm>
            <a:off x="6281928" y="3017520"/>
            <a:ext cx="822960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0"/>
          <p:cNvSpPr/>
          <p:nvPr/>
        </p:nvSpPr>
        <p:spPr>
          <a:xfrm>
            <a:off x="6281928" y="2743200"/>
            <a:ext cx="804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</a:t>
            </a:r>
            <a:endParaRPr lang="en-US" sz="750" dirty="0"/>
          </a:p>
        </p:txBody>
      </p:sp>
      <p:sp>
        <p:nvSpPr>
          <p:cNvPr id="27" name="Shape 21"/>
          <p:cNvSpPr/>
          <p:nvPr/>
        </p:nvSpPr>
        <p:spPr>
          <a:xfrm>
            <a:off x="7086600" y="2944368"/>
            <a:ext cx="137160" cy="73152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2"/>
          <p:cNvSpPr/>
          <p:nvPr/>
        </p:nvSpPr>
        <p:spPr>
          <a:xfrm>
            <a:off x="7086600" y="3090672"/>
            <a:ext cx="137160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7114032" y="1298448"/>
            <a:ext cx="1691640" cy="3383280"/>
          </a:xfrm>
          <a:prstGeom prst="rect">
            <a:avLst/>
          </a:prstGeom>
          <a:solidFill>
            <a:srgbClr val="0D1B2A"/>
          </a:solidFill>
          <a:ln w="19050">
            <a:solidFill>
              <a:srgbClr val="F59E0B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4"/>
          <p:cNvSpPr/>
          <p:nvPr/>
        </p:nvSpPr>
        <p:spPr>
          <a:xfrm>
            <a:off x="7114032" y="1298448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 OUTPUT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7205472" y="1719072"/>
            <a:ext cx="1508760" cy="1207008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0" y="1856232"/>
            <a:ext cx="411480" cy="41148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7205472" y="2313432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Warning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Score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7205472" y="3108960"/>
            <a:ext cx="1508760" cy="1207008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0" y="3246120"/>
            <a:ext cx="411480" cy="41148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7205472" y="3703320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 / Abort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274320" y="4727448"/>
            <a:ext cx="8549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Flow:  User Input  →  Vanilla JS Fraud Engine  →  Risk Score (0–100)  →  Safe / Abort Warning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DETECTION ENGINE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Fraud Detection Rules — Composite Risk Scoring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5029200" cy="420624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36576" cy="42062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325880"/>
            <a:ext cx="457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131673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Amount Risk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05840" y="1499616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 ETH value = elevated risk weight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65760" y="1755648"/>
            <a:ext cx="5029200" cy="420624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5760" y="1755648"/>
            <a:ext cx="36576" cy="42062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" y="1801368"/>
            <a:ext cx="457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05840" y="179222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Address Reputation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1975104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Checks against known scam address database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65760" y="2231136"/>
            <a:ext cx="5029200" cy="420624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65760" y="2231136"/>
            <a:ext cx="36576" cy="42062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" y="2276856"/>
            <a:ext cx="457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05840" y="22677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Approval Scope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005840" y="2450592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Unlimited ERC-20 approvals flagged High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65760" y="2706624"/>
            <a:ext cx="5029200" cy="420624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65760" y="2706624"/>
            <a:ext cx="36576" cy="42062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2920" y="2752344"/>
            <a:ext cx="457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05840" y="274320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 Age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05840" y="292608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New/unverified contracts score higher risk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5029200" cy="420624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65760" y="3182112"/>
            <a:ext cx="36576" cy="42062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02920" y="3227832"/>
            <a:ext cx="457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05840" y="321868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Phishing Match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005840" y="340156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Address pattern matches phishing registry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65760" y="3657600"/>
            <a:ext cx="5029200" cy="420624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65760" y="3657600"/>
            <a:ext cx="36576" cy="42062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02920" y="3703320"/>
            <a:ext cx="457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05840" y="369417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Signature Type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005840" y="3877056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Blind NFT / permit signatures escalate score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65760" y="4133088"/>
            <a:ext cx="5029200" cy="420624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65760" y="4133088"/>
            <a:ext cx="36576" cy="42062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02920" y="4178808"/>
            <a:ext cx="457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05840" y="416966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Address Similarity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005840" y="4352544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Look-alike poisoning detected via diff check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623560" y="1280160"/>
            <a:ext cx="3200400" cy="3337560"/>
          </a:xfrm>
          <a:prstGeom prst="rect">
            <a:avLst/>
          </a:prstGeom>
          <a:solidFill>
            <a:srgbClr val="1E2A3D"/>
          </a:solidFill>
          <a:ln w="19050">
            <a:solidFill>
              <a:srgbClr val="00D4FF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623560" y="1417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COMPOSITE RISK SCORE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806440" y="1874520"/>
            <a:ext cx="2834640" cy="685800"/>
          </a:xfrm>
          <a:prstGeom prst="rect">
            <a:avLst/>
          </a:prstGeom>
          <a:solidFill>
            <a:srgbClr val="052E16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806440" y="192024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– 30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5806440" y="22219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806440" y="2679192"/>
            <a:ext cx="2834640" cy="685800"/>
          </a:xfrm>
          <a:prstGeom prst="rect">
            <a:avLst/>
          </a:prstGeom>
          <a:solidFill>
            <a:srgbClr val="1C1000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806440" y="272491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 – 60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5806440" y="302666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MODERATE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806440" y="3483864"/>
            <a:ext cx="2834640" cy="685800"/>
          </a:xfrm>
          <a:prstGeom prst="rect">
            <a:avLst/>
          </a:prstGeom>
          <a:solidFill>
            <a:srgbClr val="1C000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5806440" y="352958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61 – 100</a:t>
            </a:r>
            <a:endParaRPr lang="en-US" sz="1700" dirty="0"/>
          </a:p>
        </p:txBody>
      </p:sp>
      <p:sp>
        <p:nvSpPr>
          <p:cNvPr id="50" name="Text 48"/>
          <p:cNvSpPr/>
          <p:nvPr/>
        </p:nvSpPr>
        <p:spPr>
          <a:xfrm>
            <a:off x="5806440" y="3831336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 RISK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577840" y="4133088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Each rule returns a weighted sub-score.</a:t>
            </a:r>
            <a:endParaRPr lang="en-US" sz="9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Scores sum to 0–100. Above 60 = Abort.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65760" y="4828032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transaction proceeds without a risk assessment — ChainShield's core guarantee.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Scenarios That Show ChainShield in Action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1298448"/>
            <a:ext cx="2788920" cy="3566160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2920" cy="50292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69848" y="1444752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High-Risk Transaction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029968"/>
            <a:ext cx="2468880" cy="292608"/>
          </a:xfrm>
          <a:prstGeom prst="roundRect">
            <a:avLst>
              <a:gd name="adj" fmla="val 18750"/>
            </a:avLst>
          </a:prstGeom>
          <a:solidFill>
            <a:srgbClr val="1A0A0A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2029968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Score: 92 — ABORT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84632" y="24505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 </a:t>
            </a:r>
            <a:r>
              <a:rPr lang="en-US" sz="95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 tx to suspicious address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84632" y="276148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 </a:t>
            </a:r>
            <a:r>
              <a:rPr lang="en-US" sz="95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runs 7 detection rules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84632" y="3072384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 </a:t>
            </a:r>
            <a:r>
              <a:rPr lang="en-US" sz="95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= 92 → Abort recommended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84632" y="338328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 </a:t>
            </a:r>
            <a:r>
              <a:rPr lang="en-US" sz="95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 warning + Abort button shown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4572000"/>
            <a:ext cx="2468880" cy="201168"/>
          </a:xfrm>
          <a:prstGeom prst="rect">
            <a:avLst/>
          </a:prstGeom>
          <a:solidFill>
            <a:srgbClr val="052E16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457200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Fraud prevented before signing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46120" y="1298448"/>
            <a:ext cx="2788920" cy="3566160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383280" y="1417320"/>
            <a:ext cx="502920" cy="502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383280" y="1417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95928" y="1444752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Phishing Address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83280" y="2029968"/>
            <a:ext cx="2468880" cy="292608"/>
          </a:xfrm>
          <a:prstGeom prst="roundRect">
            <a:avLst>
              <a:gd name="adj" fmla="val 18750"/>
            </a:avLst>
          </a:prstGeom>
          <a:solidFill>
            <a:srgbClr val="1A0A0A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383280" y="2029968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Score: 72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410712" y="24505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 </a:t>
            </a:r>
            <a:r>
              <a:rPr lang="en-US" sz="95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Destination matches phishing DB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410712" y="276148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 </a:t>
            </a:r>
            <a:r>
              <a:rPr lang="en-US" sz="95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Address flagged as SCAM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10712" y="3072384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 </a:t>
            </a:r>
            <a:r>
              <a:rPr lang="en-US" sz="95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Look-alike comparison shown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410712" y="338328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 </a:t>
            </a:r>
            <a:r>
              <a:rPr lang="en-US" sz="95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 blocked with evidence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383280" y="4572000"/>
            <a:ext cx="2468880" cy="201168"/>
          </a:xfrm>
          <a:prstGeom prst="rect">
            <a:avLst/>
          </a:prstGeom>
          <a:solidFill>
            <a:srgbClr val="052E16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383280" y="457200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 sees the real vs. fake address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172200" y="1298448"/>
            <a:ext cx="2788920" cy="3566160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22008" y="1444752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NFT Blind Signature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2029968"/>
            <a:ext cx="2468880" cy="292608"/>
          </a:xfrm>
          <a:prstGeom prst="roundRect">
            <a:avLst>
              <a:gd name="adj" fmla="val 18750"/>
            </a:avLst>
          </a:prstGeom>
          <a:solidFill>
            <a:srgbClr val="1A0A0A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309360" y="2029968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Signature Risk: 72 (High)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336792" y="24505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 </a:t>
            </a:r>
            <a:r>
              <a:rPr lang="en-US" sz="95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Signature decoded by parser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36792" y="276148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 </a:t>
            </a:r>
            <a:r>
              <a:rPr lang="en-US" sz="95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Permit for BAYC #1234 detected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336792" y="3072384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 </a:t>
            </a:r>
            <a:r>
              <a:rPr lang="en-US" sz="95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Zero-price listing identified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336792" y="338328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 </a:t>
            </a:r>
            <a:r>
              <a:rPr lang="en-US" sz="95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 Risk warning displayed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309360" y="4572000"/>
            <a:ext cx="2468880" cy="201168"/>
          </a:xfrm>
          <a:prstGeom prst="rect">
            <a:avLst/>
          </a:prstGeom>
          <a:solidFill>
            <a:srgbClr val="052E16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309360" y="457200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NFT protected — signature rejected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 STACK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Demo Tech Stack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298448"/>
            <a:ext cx="2651760" cy="3566160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298448"/>
            <a:ext cx="2651760" cy="384048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29844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1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13232" y="18288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▸  </a:t>
            </a: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HTML5 (single file)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13232" y="221284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▸  </a:t>
            </a: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CSS3 (custom theme)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13232" y="259689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▸  </a:t>
            </a: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Vanilla JavaScript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13232" y="2980944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▸  </a:t>
            </a: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 manipulation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13232" y="336499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▸  </a:t>
            </a: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Client-side simulation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83280" y="1298448"/>
            <a:ext cx="2651760" cy="3566160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383280" y="1298448"/>
            <a:ext cx="2651760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83280" y="129844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1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 Layer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47872" y="18288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▸  </a:t>
            </a: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7-rule fraud engine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47872" y="221284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▸  </a:t>
            </a: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score calculator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547872" y="259689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▸  </a:t>
            </a: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Address reputation DB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47872" y="2980944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▸  </a:t>
            </a: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Simulation scenarios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47872" y="336499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▸  </a:t>
            </a: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client-side JS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1298448"/>
            <a:ext cx="2651760" cy="3566160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217920" y="1298448"/>
            <a:ext cx="265176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217920" y="129844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1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/ UX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82512" y="18288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▸  </a:t>
            </a: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Crypto dashboard UI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382512" y="221284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▸  </a:t>
            </a: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 mode theme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82512" y="259689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▸  </a:t>
            </a: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Responsive layout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382512" y="2980944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▸  </a:t>
            </a: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Interactive warnings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382512" y="336499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▸  </a:t>
            </a: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Professor Demo panel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65760" y="4818888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This demo is a self-contained single HTML file — all fraud detection logic runs client-side in the browser.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COMPETITIVE EDGE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ChainShield vs. Existing Wallets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261872"/>
            <a:ext cx="2011680" cy="384048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26187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23160" y="1261872"/>
            <a:ext cx="1645920" cy="384048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423160" y="126187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6851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MetaMask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60520" y="1261872"/>
            <a:ext cx="1645920" cy="384048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60520" y="126187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08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Rabby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897880" y="1261872"/>
            <a:ext cx="1645920" cy="384048"/>
          </a:xfrm>
          <a:prstGeom prst="rect">
            <a:avLst/>
          </a:prstGeom>
          <a:solidFill>
            <a:srgbClr val="1E2A3D"/>
          </a:solidFill>
          <a:ln w="1270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897880" y="126187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75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 Wallet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35240" y="1261872"/>
            <a:ext cx="1645920" cy="384048"/>
          </a:xfrm>
          <a:prstGeom prst="rect">
            <a:avLst/>
          </a:prstGeom>
          <a:solidFill>
            <a:srgbClr val="003344"/>
          </a:solidFill>
          <a:ln w="1905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635240" y="126187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ChainShield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1664208"/>
            <a:ext cx="201168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1664208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Pre-sign simulation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423160" y="1664208"/>
            <a:ext cx="164592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423160" y="1664208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60520" y="1664208"/>
            <a:ext cx="164592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160520" y="1664208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897880" y="1664208"/>
            <a:ext cx="164592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897880" y="1664208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635240" y="1664208"/>
            <a:ext cx="1645920" cy="402336"/>
          </a:xfrm>
          <a:prstGeom prst="rect">
            <a:avLst/>
          </a:prstGeom>
          <a:solidFill>
            <a:srgbClr val="001A22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635240" y="1664208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0040" y="2084832"/>
            <a:ext cx="201168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2084832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Composite risk score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423160" y="2084832"/>
            <a:ext cx="164592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2423160" y="2084832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160520" y="2084832"/>
            <a:ext cx="164592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160520" y="2084832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897880" y="2084832"/>
            <a:ext cx="164592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897880" y="2084832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635240" y="2084832"/>
            <a:ext cx="1645920" cy="402336"/>
          </a:xfrm>
          <a:prstGeom prst="rect">
            <a:avLst/>
          </a:prstGeom>
          <a:solidFill>
            <a:srgbClr val="001A22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635240" y="2084832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040" y="2505456"/>
            <a:ext cx="201168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20040" y="2505456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Phishing detection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423160" y="2505456"/>
            <a:ext cx="164592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423160" y="2505456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Partial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160520" y="2505456"/>
            <a:ext cx="164592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160520" y="2505456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897880" y="2505456"/>
            <a:ext cx="164592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897880" y="2505456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Partial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7635240" y="2505456"/>
            <a:ext cx="1645920" cy="402336"/>
          </a:xfrm>
          <a:prstGeom prst="rect">
            <a:avLst/>
          </a:prstGeom>
          <a:solidFill>
            <a:srgbClr val="001A22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635240" y="2505456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20040" y="2926080"/>
            <a:ext cx="201168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320040" y="2926080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Signature parsing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423160" y="2926080"/>
            <a:ext cx="164592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423160" y="2926080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160520" y="2926080"/>
            <a:ext cx="164592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160520" y="2926080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5897880" y="2926080"/>
            <a:ext cx="164592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5897880" y="2926080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7635240" y="2926080"/>
            <a:ext cx="1645920" cy="402336"/>
          </a:xfrm>
          <a:prstGeom prst="rect">
            <a:avLst/>
          </a:prstGeom>
          <a:solidFill>
            <a:srgbClr val="001A22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7635240" y="2926080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20040" y="3346704"/>
            <a:ext cx="201168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320040" y="3346704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Address poisoning guard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423160" y="3346704"/>
            <a:ext cx="164592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2423160" y="3346704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160520" y="3346704"/>
            <a:ext cx="164592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4160520" y="3346704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897880" y="3346704"/>
            <a:ext cx="164592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5897880" y="3346704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7635240" y="3346704"/>
            <a:ext cx="1645920" cy="402336"/>
          </a:xfrm>
          <a:prstGeom prst="rect">
            <a:avLst/>
          </a:prstGeom>
          <a:solidFill>
            <a:srgbClr val="001A22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7635240" y="3346704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20040" y="3767328"/>
            <a:ext cx="201168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320040" y="3767328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Approval management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2423160" y="3767328"/>
            <a:ext cx="164592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2423160" y="3767328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4160520" y="3767328"/>
            <a:ext cx="164592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4160520" y="3767328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5897880" y="3767328"/>
            <a:ext cx="164592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5897880" y="3767328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7635240" y="3767328"/>
            <a:ext cx="1645920" cy="402336"/>
          </a:xfrm>
          <a:prstGeom prst="rect">
            <a:avLst/>
          </a:prstGeom>
          <a:solidFill>
            <a:srgbClr val="001A22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7635240" y="3767328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320040" y="4187952"/>
            <a:ext cx="201168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320040" y="4187952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Chrome extension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2423160" y="4187952"/>
            <a:ext cx="164592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2423160" y="4187952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4160520" y="4187952"/>
            <a:ext cx="164592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4160520" y="4187952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897880" y="4187952"/>
            <a:ext cx="1645920" cy="402336"/>
          </a:xfrm>
          <a:prstGeom prst="rect">
            <a:avLst/>
          </a:prstGeom>
          <a:solidFill>
            <a:srgbClr val="131E2E"/>
          </a:solidFill>
          <a:ln w="6350">
            <a:solidFill>
              <a:srgbClr val="2D3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5897880" y="4187952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7635240" y="4187952"/>
            <a:ext cx="1645920" cy="402336"/>
          </a:xfrm>
          <a:prstGeom prst="rect">
            <a:avLst/>
          </a:prstGeom>
          <a:solidFill>
            <a:srgbClr val="001A22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7635240" y="4187952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</a:t>
            </a:r>
            <a:endParaRPr lang="en-US" sz="1200" dirty="0"/>
          </a:p>
        </p:txBody>
      </p:sp>
      <p:sp>
        <p:nvSpPr>
          <p:cNvPr id="85" name="Text 83"/>
          <p:cNvSpPr/>
          <p:nvPr/>
        </p:nvSpPr>
        <p:spPr>
          <a:xfrm>
            <a:off x="320040" y="4736592"/>
            <a:ext cx="8503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ChainShield's unique advantage: Composite risk score (0–100) — no existing wallet combines all detections into one live score.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320040" y="4919472"/>
            <a:ext cx="8503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* Chrome extension in active development. Web demo fully functional. Comparison based on public docs, 2026.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0" y="-457200"/>
            <a:ext cx="5486400" cy="5486400"/>
          </a:xfrm>
          <a:prstGeom prst="ellipse">
            <a:avLst/>
          </a:prstGeom>
          <a:solidFill>
            <a:srgbClr val="00D4FF">
              <a:alpha val="10000"/>
            </a:srgbClr>
          </a:solidFill>
          <a:ln w="12700">
            <a:solidFill>
              <a:srgbClr val="00D4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41148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96596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ChainShield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48640" y="2633472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 every wallet action. Before you sign.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1097280" y="3291840"/>
            <a:ext cx="2331720" cy="411480"/>
          </a:xfrm>
          <a:prstGeom prst="roundRect">
            <a:avLst>
              <a:gd name="adj" fmla="val 17778"/>
            </a:avLst>
          </a:prstGeom>
          <a:solidFill>
            <a:srgbClr val="1E2A3D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097280" y="32918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Full-stack Web3 security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566160" y="3291840"/>
            <a:ext cx="2331720" cy="411480"/>
          </a:xfrm>
          <a:prstGeom prst="roundRect">
            <a:avLst>
              <a:gd name="adj" fmla="val 17778"/>
            </a:avLst>
          </a:prstGeom>
          <a:solidFill>
            <a:srgbClr val="1E2A3D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566160" y="32918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7-rule fraud detection engine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035040" y="3291840"/>
            <a:ext cx="2331720" cy="411480"/>
          </a:xfrm>
          <a:prstGeom prst="roundRect">
            <a:avLst>
              <a:gd name="adj" fmla="val 17778"/>
            </a:avLst>
          </a:prstGeom>
          <a:solidFill>
            <a:srgbClr val="1E2A3D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035040" y="32918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Pre-sign protection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48640" y="3977640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demo: </a:t>
            </a:r>
            <a:r>
              <a:rPr lang="en-US" sz="900" dirty="0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4"/>
              </a:rPr>
              <a:t>website </a:t>
            </a:r>
            <a:r>
              <a:rPr lang="en-US" sz="900" dirty="0" err="1">
                <a:solidFill>
                  <a:srgbClr val="8B9B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4"/>
              </a:rPr>
              <a:t>lnk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4434840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4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 ·  Questions?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48640" y="484632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787</Words>
  <Application>Microsoft Office PowerPoint</Application>
  <PresentationFormat>On-screen Show (16:9)</PresentationFormat>
  <Paragraphs>195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Georgia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ChainShield – Wallet Security Demo</dc:title>
  <dc:subject>PptxGenJS Presentation</dc:subject>
  <dc:creator>Aditya</dc:creator>
  <cp:lastModifiedBy>Linh Hoang thuy</cp:lastModifiedBy>
  <cp:revision>3</cp:revision>
  <dcterms:created xsi:type="dcterms:W3CDTF">2026-06-08T10:32:00Z</dcterms:created>
  <dcterms:modified xsi:type="dcterms:W3CDTF">2026-06-08T14:25:22Z</dcterms:modified>
</cp:coreProperties>
</file>